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49AFAC-79FE-49E8-9C09-51E998CFCA8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AB6333-FC86-4417-9FF5-BB5699ED63FD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307A5F0-D714-4239-839B-5E06F0723BC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AC3F797-3AE8-4E4F-A8DA-5984CCB8469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5E9DF0-DA54-49E0-9F56-459F74B46CE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0DB415-BC0D-440B-9660-80917991E020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5E5C10-3D0B-44A4-B3C1-5EBFFD7EB65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23955B-EC45-41B7-9164-D26DC8816BE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840120" cy="5143320"/>
          </a:xfrm>
          <a:prstGeom prst="rect">
            <a:avLst/>
          </a:prstGeom>
          <a:solidFill>
            <a:srgbClr val="0e9b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1092960" y="502920"/>
            <a:ext cx="247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11480" y="109728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9" strike="noStrike" u="none">
                <a:solidFill>
                  <a:srgbClr val="c8f4ee"/>
                </a:solidFill>
                <a:effectLst/>
                <a:uFillTx/>
                <a:latin typeface="Calibri"/>
                <a:ea typeface="Calibri"/>
              </a:rPr>
              <a:t>Dados · Código · Conhecimento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20040" y="1691640"/>
            <a:ext cx="32000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Caminho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Pedras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20040" y="370332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c8f4ee"/>
                </a:solidFill>
                <a:effectLst/>
                <a:uFillTx/>
                <a:latin typeface="Calibri"/>
                <a:ea typeface="Calibri"/>
              </a:rPr>
              <a:t>Encontre dados públicos em linguagem simples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206240" y="146304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2º Concurso de Reúso de Dados Abertos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206240" y="2423160"/>
            <a:ext cx="4388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Controladoria-Geral da União · Edital CGU nº 46, de 19 de junho de 2026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EQUIPE EXECUTORA: STATCODE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206240" y="3429000"/>
            <a:ext cx="1416960" cy="594000"/>
          </a:xfrm>
          <a:prstGeom prst="roundRect">
            <a:avLst>
              <a:gd name="adj" fmla="val 18462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251960" y="34747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Transparência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760720" y="3429000"/>
            <a:ext cx="1416960" cy="594000"/>
          </a:xfrm>
          <a:prstGeom prst="roundRect">
            <a:avLst>
              <a:gd name="adj" fmla="val 18462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806440" y="34747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Acesso a direitos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269480" y="3429000"/>
            <a:ext cx="1416960" cy="594000"/>
          </a:xfrm>
          <a:prstGeom prst="roundRect">
            <a:avLst>
              <a:gd name="adj" fmla="val 18462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315200" y="347472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Controle social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0" y="4846320"/>
            <a:ext cx="9143640" cy="297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3657600" y="486468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statcode.com.br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m 18" descr=""/>
          <p:cNvPicPr/>
          <p:nvPr/>
        </p:nvPicPr>
        <p:blipFill>
          <a:blip r:embed="rId1"/>
          <a:stretch/>
        </p:blipFill>
        <p:spPr>
          <a:xfrm>
            <a:off x="257760" y="502920"/>
            <a:ext cx="702000" cy="55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2422800"/>
          </a:xfrm>
          <a:prstGeom prst="rect">
            <a:avLst/>
          </a:prstGeom>
          <a:solidFill>
            <a:srgbClr val="001b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"/>
          <p:cNvSpPr/>
          <p:nvPr/>
        </p:nvSpPr>
        <p:spPr>
          <a:xfrm>
            <a:off x="978480" y="182880"/>
            <a:ext cx="2175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75560" y="6310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Como funciona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25960" y="1472040"/>
            <a:ext cx="816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trike="noStrike" u="none">
                <a:solidFill>
                  <a:srgbClr val="9ec5be"/>
                </a:solidFill>
                <a:effectLst/>
                <a:uFillTx/>
                <a:latin typeface="Calibri"/>
                <a:ea typeface="Calibri"/>
              </a:rPr>
              <a:t>Uma camada de tradução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trike="noStrike" u="none">
                <a:solidFill>
                  <a:srgbClr val="9ec5be"/>
                </a:solidFill>
                <a:effectLst/>
                <a:uFillTx/>
                <a:latin typeface="Calibri"/>
                <a:ea typeface="Calibri"/>
              </a:rPr>
              <a:t>Processamos todo o catálogo do dados.gov.br e geramos, para cada conjunto, uma descrição em português simples e uma lista de perguntas reais que aquele conjunto responde. É essa camada, e não o metadado original, que fica indexada para busca.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0" y="2423160"/>
            <a:ext cx="9143640" cy="54360"/>
          </a:xfrm>
          <a:prstGeom prst="rect">
            <a:avLst/>
          </a:prstGeom>
          <a:solidFill>
            <a:srgbClr val="0e9b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5"/>
          <p:cNvSpPr/>
          <p:nvPr/>
        </p:nvSpPr>
        <p:spPr>
          <a:xfrm>
            <a:off x="475560" y="246420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Busca híbrida e verificada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502920" y="338328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1"/>
          <a:stretch/>
        </p:blipFill>
        <p:spPr>
          <a:xfrm>
            <a:off x="654120" y="36072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7"/>
          <p:cNvSpPr/>
          <p:nvPr/>
        </p:nvSpPr>
        <p:spPr>
          <a:xfrm>
            <a:off x="1038240" y="35982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Pergunte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54120" y="396396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Escreva a dúvida como você falaria. Sem jargão, sem sintaxe, sem precisar conhecer o catálogo.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3383280" y="338328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2"/>
          <a:stretch/>
        </p:blipFill>
        <p:spPr>
          <a:xfrm>
            <a:off x="3534480" y="36072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0"/>
          <p:cNvSpPr/>
          <p:nvPr/>
        </p:nvSpPr>
        <p:spPr>
          <a:xfrm>
            <a:off x="3918600" y="35982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Compare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3534480" y="396396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Veja os conjuntos lado a lado, com órgão responsável, formato dos arquivos e situação do link.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6263640" y="3383280"/>
            <a:ext cx="2651400" cy="146268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3"/>
          <a:stretch/>
        </p:blipFill>
        <p:spPr>
          <a:xfrm>
            <a:off x="6414840" y="36072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3"/>
          <p:cNvSpPr/>
          <p:nvPr/>
        </p:nvSpPr>
        <p:spPr>
          <a:xfrm>
            <a:off x="6798960" y="3598200"/>
            <a:ext cx="1919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Confira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6414840" y="3963960"/>
            <a:ext cx="2331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Toda resposta leva ao registro original no portal. Nada é afirmado sem fonte verificável.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m 21" descr=""/>
          <p:cNvPicPr/>
          <p:nvPr/>
        </p:nvPicPr>
        <p:blipFill>
          <a:blip r:embed="rId4"/>
          <a:stretch/>
        </p:blipFill>
        <p:spPr>
          <a:xfrm>
            <a:off x="403920" y="235080"/>
            <a:ext cx="427680" cy="34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3"/>
          <p:cNvSpPr/>
          <p:nvPr/>
        </p:nvSpPr>
        <p:spPr>
          <a:xfrm>
            <a:off x="475560" y="2869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trike="noStrike" u="non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Busca textual e semântica combinadas recuperam os conjuntos pertinentes. Cada link é testado antes de ser apresentado, então ninguém é enviado para um arquivo que saiu do ar.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1051200"/>
          </a:xfrm>
          <a:prstGeom prst="rect">
            <a:avLst/>
          </a:prstGeom>
          <a:solidFill>
            <a:srgbClr val="001b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1"/>
          <p:cNvSpPr/>
          <p:nvPr/>
        </p:nvSpPr>
        <p:spPr>
          <a:xfrm>
            <a:off x="868680" y="2559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11480" y="22860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problema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48640" y="128016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19 mil conjuntos que ninguém encontra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85360" y="1696320"/>
            <a:ext cx="8146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 Portal Brasileiro de Dados Abertos reúne mais de 19 mil conjuntos de dados. O acervo existe, é público e está catalogado. Mas encontrá-lo exige saber de antemão o termo técnico que o órgão usou para nomeá-lo.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548640" y="2973960"/>
            <a:ext cx="2559960" cy="13255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" name="Image 1" descr="preencoded.png"/>
          <p:cNvPicPr/>
          <p:nvPr/>
        </p:nvPicPr>
        <p:blipFill>
          <a:blip r:embed="rId1"/>
          <a:stretch/>
        </p:blipFill>
        <p:spPr>
          <a:xfrm>
            <a:off x="713160" y="30837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6"/>
          <p:cNvSpPr/>
          <p:nvPr/>
        </p:nvSpPr>
        <p:spPr>
          <a:xfrm>
            <a:off x="1097280" y="30744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A pergunta natural falha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713160" y="3440160"/>
            <a:ext cx="226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Quem digita “quantos leitos de UTI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tem na minha cidade” não recebe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nenhum resultado, porque nenhum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conjunto tem essa frase escrita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em seu título.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3337560" y="2973960"/>
            <a:ext cx="2559960" cy="13255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4" name="Image 2" descr="preencoded.png"/>
          <p:cNvPicPr/>
          <p:nvPr/>
        </p:nvPicPr>
        <p:blipFill>
          <a:blip r:embed="rId2"/>
          <a:stretch/>
        </p:blipFill>
        <p:spPr>
          <a:xfrm>
            <a:off x="3502080" y="30837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9"/>
          <p:cNvSpPr/>
          <p:nvPr/>
        </p:nvSpPr>
        <p:spPr>
          <a:xfrm>
            <a:off x="3886200" y="30744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O termo técnico funciona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3502080" y="3440160"/>
            <a:ext cx="226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Quem digita “estabelecimentos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 saúde” encontra. O dado sempre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esteve lá, disponível e gratuito,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esperando alguém que já soubesse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como chamá-lo.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1"/>
          <p:cNvSpPr/>
          <p:nvPr/>
        </p:nvSpPr>
        <p:spPr>
          <a:xfrm>
            <a:off x="6126480" y="2973960"/>
            <a:ext cx="2559960" cy="132552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8" name="Image 3" descr="preencoded.png"/>
          <p:cNvPicPr/>
          <p:nvPr/>
        </p:nvPicPr>
        <p:blipFill>
          <a:blip r:embed="rId3"/>
          <a:stretch/>
        </p:blipFill>
        <p:spPr>
          <a:xfrm>
            <a:off x="6291000" y="30837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12"/>
          <p:cNvSpPr/>
          <p:nvPr/>
        </p:nvSpPr>
        <p:spPr>
          <a:xfrm>
            <a:off x="6675120" y="30744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A barreira é o vocabulário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6291000" y="3440160"/>
            <a:ext cx="226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Não falta dado aberto no Brasil.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Falta uma ponte entre a linguagem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 quem pergunta e a linguagem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 quem publica.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m 20" descr=""/>
          <p:cNvPicPr/>
          <p:nvPr/>
        </p:nvPicPr>
        <p:blipFill>
          <a:blip r:embed="rId4"/>
          <a:stretch/>
        </p:blipFill>
        <p:spPr>
          <a:xfrm>
            <a:off x="376560" y="297360"/>
            <a:ext cx="427680" cy="3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e9b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7308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 coleta à resposta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274320" y="914400"/>
            <a:ext cx="4114440" cy="1828440"/>
          </a:xfrm>
          <a:prstGeom prst="roundRect">
            <a:avLst>
              <a:gd name="adj" fmla="val 8000"/>
            </a:avLst>
          </a:prstGeom>
          <a:solidFill>
            <a:srgbClr val="001b44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502920" y="11703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3"/>
          <p:cNvSpPr/>
          <p:nvPr/>
        </p:nvSpPr>
        <p:spPr>
          <a:xfrm>
            <a:off x="960120" y="114300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Coleta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502920" y="16916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Catálogo completo obtido pela API pública do dados.gov.br, com verificação de saúde de cada recurso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mais de 19.000 conjuntos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4754880" y="914400"/>
            <a:ext cx="4114440" cy="1828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4983480" y="11703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6"/>
          <p:cNvSpPr/>
          <p:nvPr/>
        </p:nvSpPr>
        <p:spPr>
          <a:xfrm>
            <a:off x="5440680" y="114300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2. Enriquecimento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983480" y="16916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Resumo em linguagem simples e perguntas de exemplo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geradas para cada conjunto do acervo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processado uma vez, servido pronto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74320" y="3017520"/>
            <a:ext cx="4114440" cy="1828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 2" descr="preencoded.png"/>
          <p:cNvPicPr/>
          <p:nvPr/>
        </p:nvPicPr>
        <p:blipFill>
          <a:blip r:embed="rId3"/>
          <a:stretch/>
        </p:blipFill>
        <p:spPr>
          <a:xfrm>
            <a:off x="502920" y="32734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9"/>
          <p:cNvSpPr/>
          <p:nvPr/>
        </p:nvSpPr>
        <p:spPr>
          <a:xfrm>
            <a:off x="960120" y="32461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3. Indexação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502920" y="37947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Busca textual e vetorial combinadas por fusão de rankings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001b44"/>
                </a:solidFill>
                <a:effectLst/>
                <a:uFillTx/>
                <a:latin typeface="Calibri"/>
                <a:ea typeface="Calibri"/>
              </a:rPr>
              <a:t>recuperação híbrida e local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4754880" y="3017520"/>
            <a:ext cx="4114440" cy="1828440"/>
          </a:xfrm>
          <a:prstGeom prst="roundRect">
            <a:avLst>
              <a:gd name="adj" fmla="val 8000"/>
            </a:avLst>
          </a:prstGeom>
          <a:solidFill>
            <a:srgbClr val="0e9b83"/>
          </a:solidFill>
          <a:ln w="0">
            <a:noFill/>
          </a:ln>
          <a:effectLst>
            <a:outerShdw algn="bl" blurRad="101520" dir="2700000" dist="37674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4983480" y="32734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2"/>
          <p:cNvSpPr/>
          <p:nvPr/>
        </p:nvSpPr>
        <p:spPr>
          <a:xfrm>
            <a:off x="5440680" y="324612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Resposta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4983480" y="37947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Resposta ancorada nas fichas recuperadas, sempre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link para a fonte oficial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toda afirmação é verificável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885240" y="255960"/>
            <a:ext cx="1994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m 22" descr=""/>
          <p:cNvPicPr/>
          <p:nvPr/>
        </p:nvPicPr>
        <p:blipFill>
          <a:blip r:embed="rId5"/>
          <a:stretch/>
        </p:blipFill>
        <p:spPr>
          <a:xfrm>
            <a:off x="376560" y="297360"/>
            <a:ext cx="427680" cy="3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4114440" cy="5143320"/>
          </a:xfrm>
          <a:prstGeom prst="rect">
            <a:avLst/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 1"/>
          <p:cNvSpPr/>
          <p:nvPr/>
        </p:nvSpPr>
        <p:spPr>
          <a:xfrm>
            <a:off x="868680" y="347400"/>
            <a:ext cx="2742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11480" y="105156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Para quem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11480" y="1572840"/>
            <a:ext cx="3474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e9b83"/>
                </a:solidFill>
                <a:effectLst/>
                <a:uFillTx/>
                <a:latin typeface="Calibri"/>
                <a:ea typeface="Calibri"/>
              </a:rPr>
              <a:t>é feito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365760" y="210312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Cidadãos que querem fiscalizar sua cidade, servidores municipais sem equipe de dados, jornalistas, professores, pesquisadores e conselheiros de políticas públicas.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320040" y="3063240"/>
            <a:ext cx="3520080" cy="529920"/>
          </a:xfrm>
          <a:prstGeom prst="roundRect">
            <a:avLst>
              <a:gd name="adj" fmla="val 15517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6"/>
          <p:cNvSpPr/>
          <p:nvPr/>
        </p:nvSpPr>
        <p:spPr>
          <a:xfrm>
            <a:off x="502920" y="308160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 cadastro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2286000" y="308160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nem login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2743200" y="3081600"/>
            <a:ext cx="959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22c55e"/>
                </a:solidFill>
                <a:effectLst/>
                <a:uFillTx/>
                <a:latin typeface="Calibri"/>
                <a:ea typeface="Calibri"/>
              </a:rPr>
              <a:t>acesso livre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320040" y="3703320"/>
            <a:ext cx="3520080" cy="529920"/>
          </a:xfrm>
          <a:prstGeom prst="roundRect">
            <a:avLst>
              <a:gd name="adj" fmla="val 15517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502920" y="372168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Código aberto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2286000" y="372168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 replicável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320040" y="4343400"/>
            <a:ext cx="3520080" cy="529920"/>
          </a:xfrm>
          <a:prstGeom prst="roundRect">
            <a:avLst>
              <a:gd name="adj" fmla="val 15517"/>
            </a:avLst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02920" y="4361760"/>
            <a:ext cx="32914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Licença livre ·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metodologia publicada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4434840" y="38412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Critérios do edital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4389120" y="1097280"/>
            <a:ext cx="4434480" cy="804240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1"/>
          <a:stretch/>
        </p:blipFill>
        <p:spPr>
          <a:xfrm>
            <a:off x="4553640" y="12985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9"/>
          <p:cNvSpPr/>
          <p:nvPr/>
        </p:nvSpPr>
        <p:spPr>
          <a:xfrm>
            <a:off x="4983480" y="1188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Transparência e controle social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0"/>
          <p:cNvSpPr/>
          <p:nvPr/>
        </p:nvSpPr>
        <p:spPr>
          <a:xfrm>
            <a:off x="4983480" y="15271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Quem não encontra o dado não fiscaliza nada. O acesso é o primeiro degrau do controle social.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1"/>
          <p:cNvSpPr/>
          <p:nvPr/>
        </p:nvSpPr>
        <p:spPr>
          <a:xfrm>
            <a:off x="4389120" y="2057400"/>
            <a:ext cx="4434480" cy="804240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2"/>
          <a:stretch/>
        </p:blipFill>
        <p:spPr>
          <a:xfrm>
            <a:off x="4553640" y="22586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2"/>
          <p:cNvSpPr/>
          <p:nvPr/>
        </p:nvSpPr>
        <p:spPr>
          <a:xfrm>
            <a:off x="4983480" y="2148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Foco nas pessoas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4983480" y="2487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Linguagem simples, uso no celular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 acessibilidade como requisito.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4"/>
          <p:cNvSpPr/>
          <p:nvPr/>
        </p:nvSpPr>
        <p:spPr>
          <a:xfrm>
            <a:off x="4389120" y="3017520"/>
            <a:ext cx="4434480" cy="804240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Image 3" descr="preencoded.png"/>
          <p:cNvPicPr/>
          <p:nvPr/>
        </p:nvPicPr>
        <p:blipFill>
          <a:blip r:embed="rId3"/>
          <a:stretch/>
        </p:blipFill>
        <p:spPr>
          <a:xfrm>
            <a:off x="4553640" y="32187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25"/>
          <p:cNvSpPr/>
          <p:nvPr/>
        </p:nvSpPr>
        <p:spPr>
          <a:xfrm>
            <a:off x="4983480" y="3108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Inovação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4983480" y="34473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Camada de tradução do catálogo e resposta sempre rastreável até a fonte.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4389120" y="3977640"/>
            <a:ext cx="4434480" cy="804240"/>
          </a:xfrm>
          <a:prstGeom prst="roundRect">
            <a:avLst>
              <a:gd name="adj" fmla="val 12500"/>
            </a:avLst>
          </a:prstGeom>
          <a:solidFill>
            <a:srgbClr val="16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Image 4" descr="preencoded.png"/>
          <p:cNvPicPr/>
          <p:nvPr/>
        </p:nvPicPr>
        <p:blipFill>
          <a:blip r:embed="rId4"/>
          <a:stretch/>
        </p:blipFill>
        <p:spPr>
          <a:xfrm>
            <a:off x="4553640" y="41788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28"/>
          <p:cNvSpPr/>
          <p:nvPr/>
        </p:nvSpPr>
        <p:spPr>
          <a:xfrm>
            <a:off x="4983480" y="4069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8fafc"/>
                </a:solidFill>
                <a:effectLst/>
                <a:uFillTx/>
                <a:latin typeface="Calibri"/>
                <a:ea typeface="Calibri"/>
              </a:rPr>
              <a:t>Duas ou mais fontes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4983480" y="4407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Catálogo do dados.gov.br somado aos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conjuntos dos órgãos publicadores.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m 37" descr=""/>
          <p:cNvPicPr/>
          <p:nvPr/>
        </p:nvPicPr>
        <p:blipFill>
          <a:blip r:embed="rId5"/>
          <a:stretch/>
        </p:blipFill>
        <p:spPr>
          <a:xfrm>
            <a:off x="334800" y="399960"/>
            <a:ext cx="427680" cy="3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274320" y="-27432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0" strike="noStrike" u="none">
                <a:solidFill>
                  <a:srgbClr val="0e9b83"/>
                </a:solidFill>
                <a:effectLst/>
                <a:uFillTx/>
                <a:latin typeface="Calibri"/>
                <a:ea typeface="Calibri"/>
              </a:rPr>
              <a:t>“</a:t>
            </a:r>
            <a:endParaRPr b="0" lang="en-US" sz="1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914400" y="1188720"/>
            <a:ext cx="73148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dado público que ninguém encontra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não cumpriu sua função. Transparência que exige vocabulário técnico não é transparência: é privilégio.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3840480" y="3474720"/>
            <a:ext cx="1463040" cy="360"/>
          </a:xfrm>
          <a:prstGeom prst="line">
            <a:avLst/>
          </a:prstGeom>
          <a:ln w="25400">
            <a:solidFill>
              <a:srgbClr val="0e9b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914400" y="365760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9ec5be"/>
                </a:solidFill>
                <a:effectLst/>
                <a:uFillTx/>
                <a:latin typeface="Calibri"/>
                <a:ea typeface="Calibri"/>
              </a:rPr>
              <a:t>Caminho das Pedras — o dado sempre esteve lá.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4572000" y="46634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ec5be"/>
                </a:solidFill>
                <a:effectLst/>
                <a:uFillTx/>
                <a:latin typeface="Calibri"/>
                <a:ea typeface="Calibri"/>
              </a:rPr>
              <a:t>statcode.com.br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m 8" descr=""/>
          <p:cNvPicPr/>
          <p:nvPr/>
        </p:nvPicPr>
        <p:blipFill>
          <a:blip r:embed="rId1"/>
          <a:stretch/>
        </p:blipFill>
        <p:spPr>
          <a:xfrm>
            <a:off x="4065840" y="4578480"/>
            <a:ext cx="427680" cy="3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5943600" y="0"/>
            <a:ext cx="3200040" cy="5143320"/>
          </a:xfrm>
          <a:prstGeom prst="rect">
            <a:avLst/>
          </a:prstGeom>
          <a:solidFill>
            <a:srgbClr val="0e9b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914400" y="347400"/>
            <a:ext cx="2742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1097280"/>
            <a:ext cx="5211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Experimente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57200" y="2148840"/>
            <a:ext cx="5211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Todo dado público já estava lá.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Só faltava o caminho das pedras.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457200" y="2971800"/>
            <a:ext cx="3820320" cy="1257120"/>
          </a:xfrm>
          <a:prstGeom prst="roundRect">
            <a:avLst>
              <a:gd name="adj" fmla="val 16667"/>
            </a:avLst>
          </a:prstGeom>
          <a:solidFill>
            <a:srgbClr val="0e9b8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6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Equipe executora: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6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StatCode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16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Cerquilho · São Paulo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457200" y="32461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457200" y="42292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statcode.com.br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457200" y="449892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Dados abertos + linguagem simples = acesso real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m 12" descr=""/>
          <p:cNvPicPr/>
          <p:nvPr/>
        </p:nvPicPr>
        <p:blipFill>
          <a:blip r:embed="rId1"/>
          <a:stretch/>
        </p:blipFill>
        <p:spPr>
          <a:xfrm>
            <a:off x="6850800" y="1670760"/>
            <a:ext cx="1683000" cy="134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Imagem 14" descr=""/>
          <p:cNvPicPr/>
          <p:nvPr/>
        </p:nvPicPr>
        <p:blipFill>
          <a:blip r:embed="rId2"/>
          <a:stretch/>
        </p:blipFill>
        <p:spPr>
          <a:xfrm>
            <a:off x="334800" y="399960"/>
            <a:ext cx="427680" cy="34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LibreOffice/25.2.6.2$Linux_X86_64 LibreOffice_project/520$Build-2</Application>
  <AppVersion>15.0000</AppVersion>
  <Words>514</Words>
  <Paragraphs>115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2026-06-25T01:33:35Z</dcterms:created>
  <dc:creator>StatCode</dc:creator>
  <dc:description/>
  <dc:language>en-US</dc:language>
  <cp:lastModifiedBy/>
  <dcterms:modified xsi:type="dcterms:W3CDTF">2026-06-25T10:32:31Z</dcterms:modified>
  <cp:revision>5</cp:revision>
  <dc:subject>PptxGenJS Presentation</dc:subject>
  <dc:title>StatCode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(16:9)</vt:lpwstr>
  </property>
  <property fmtid="{D5CDD505-2E9C-101B-9397-08002B2CF9AE}" pid="4" name="Slides">
    <vt:i4>7</vt:i4>
  </property>
</Properties>
</file>